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ECON 351 — Exam Prep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24-Question Practice Set · Ch.4 &amp; Ch.9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Plan — Topic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Chapter 4 (12 questions)</a:t>
            </a:r>
          </a:p>
          <a:p>
            <a:pPr>
              <a:defRPr sz="1800"/>
            </a:pPr>
            <a:r>
              <a:t>  • 2 Consumer Problems</a:t>
            </a:r>
          </a:p>
          <a:p>
            <a:pPr>
              <a:defRPr sz="1800"/>
            </a:pPr>
            <a:r>
              <a:t>  • 2 Labor-Leisure</a:t>
            </a:r>
          </a:p>
          <a:p>
            <a:pPr>
              <a:defRPr sz="1800"/>
            </a:pPr>
            <a:r>
              <a:t>  • 2 Intertemporal Consumption</a:t>
            </a:r>
          </a:p>
          <a:p>
            <a:pPr>
              <a:defRPr sz="1800"/>
            </a:pPr>
            <a:r>
              <a:t>  • 3 Elasticity / Types of Goods</a:t>
            </a:r>
          </a:p>
          <a:p>
            <a:pPr>
              <a:defRPr sz="1800"/>
            </a:pPr>
            <a:r>
              <a:t>  • 1 Budget Line</a:t>
            </a:r>
          </a:p>
          <a:p>
            <a:pPr>
              <a:defRPr sz="1800"/>
            </a:pPr>
            <a:r>
              <a:t>  • 2 Assumptions / Preferences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Chapter 9 (12 questions)</a:t>
            </a:r>
          </a:p>
          <a:p>
            <a:pPr>
              <a:defRPr sz="1800"/>
            </a:pPr>
            <a:r>
              <a:t>  • 5 Insurance Problems</a:t>
            </a:r>
          </a:p>
          <a:p>
            <a:pPr>
              <a:defRPr sz="1800"/>
            </a:pPr>
            <a:r>
              <a:t>  • 4 Risk Attitudes</a:t>
            </a:r>
          </a:p>
          <a:p>
            <a:pPr>
              <a:defRPr sz="1800"/>
            </a:pPr>
            <a:r>
              <a:t>  • 2 Certainty Equivalent &amp; Risk Premium</a:t>
            </a:r>
          </a:p>
          <a:p>
            <a:pPr>
              <a:defRPr sz="1800"/>
            </a:pPr>
            <a:r>
              <a:t>  • 1 Diversification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Homework 1 (Ch.4), Homework 2 (Ch.9)</a:t>
            </a:r>
          </a:p>
          <a:p>
            <a:pPr>
              <a:defRPr sz="1800"/>
            </a:pPr>
            <a:r>
              <a:t>Sample Questions Ch.4 &amp; Ch.9</a:t>
            </a:r>
          </a:p>
          <a:p>
            <a:pPr>
              <a:defRPr sz="1800"/>
            </a:pPr>
            <a:r>
              <a:t>Mock Midterm 1</a:t>
            </a:r>
          </a:p>
          <a:p>
            <a:pPr>
              <a:defRPr sz="1800"/>
            </a:pPr>
            <a:r>
              <a:t>Labor-leisure Q3–4: course-style (not in uploads)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Chapter 4 — Practice Questions (Q1–Q12)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 — Consumer Problem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Consumer Problems · Homework 1 Ch.4 (Ex 3.1–3.5)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Manuel: U(q1,q2) = 3q1^0.6 q2^0.4. Prices p1=5, p2=10, income=$100. Find q1*, q2*.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Q2 — Consumer Problem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Consumer Problems · Sample Q Ch.4 (Q26)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PA=$2, PB=$3, I=$120, U(A,B)=2A²B³. Write budget constraint, find optimal bundle, slopes at optimum.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Q3 — Labor-Leisure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Labor-Leisure · Course-style (not in uploads) (LL-1)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Maria has 16 hours/day for leisure (ℓ) and work. Wage w=$20/hr, non-labor income V=$80. Utility U(c,ℓ)=c^0.5 ℓ^0.5 where c = w(16−ℓ)+V. Find optimal ℓ* and labor hours L*.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Note: Standard labor-leisure Cobb-Douglas.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Q4 — Labor-Leisure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Labor-Leisure · Course-style (not in uploads) (LL-2)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Same setup as LL-1 but wage rises to w=$30. Find new ℓ*, L*, c*. Does Maria work more or less?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Note: Compare to LL-1.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Q5 — Intertemporal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Intertemporal Consumption · Sample Q Ch.4 (Q41)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I1=10, I2=12, r=0.5, p1=p2=1, u(q1,q2)=q1·q2. Find q1*, q2*. Saving or borrowing?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Q6 — Intertemporal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Intertemporal Consumption · Mock Midterm 1 (Q25)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Using Q24 setup, optimal q1 in period 1?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Q7 — Elasticity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Elasticity / Types of Goods · Homework 1 Ch.4 (Ex 4.1–4.2)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Demand q=100−5p. Find Q at p=5 and p=10. Compute price elasticity at p=5.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Q8 — Elasticity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Elasticity / Types of Goods · Sample Q Ch.4 (Q39)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QA = 784 − 2PA − 3I − 4PO. At PA=2, I=100, PO=20: price, income, and cross-price elasticities.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Q9 — Elasticity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Elasticity / Types of Goods · Sample Q Ch.4 (Q38)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Apples &amp; bananas complements; apples inferior. Which demand function for apples?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Q10 — Budget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Budget Line · Sample Q Ch.4 (Q10)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Apples (horizontal), oranges (vertical). Price of apples rises $3→$6; price of oranges rises $2→$4. Budget line: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Q11 — Preferences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Assumptions / Preferences · Homework 1 Ch.4 (Ex 2.2)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Jackie goes to the movies. Movies: 'Avatar' and 'The Avengers.' She cannot decide which one to see. Does this violate any assumption on preferences?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Q12 — Preferences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4 · Assumptions / Preferences · Sample Q Ch.4 (Q8)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Serena's IC is a straight line with slope −7/5 (X on horizontal). Which utility function represents her preferences? Options include u = X/5 + Y/7.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Chapter 9 — Practice Questions (Q13–Q24)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Q13 — Insurance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Insurance · Homework 2 Ch.9 (Ex 3a)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Tom: house $846,400, 25% chance $174,000 damage, u=√I. Max premium P for full insurance?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Q14 — Insurance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Insurance · Homework 2 Ch.9 (Ex 3b)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Same Tom setup. Fair (actuarially fair) insurance premium?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Q15 — Insurance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Insurance · Sample Q Ch.9 (Q18)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Sherman: Ferrari $230,900 + $50,000 cash. 25% chance $158,400 damage. u=√x. Max P and RP?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Q16 — Insurance 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Insurance · Mock Midterm 1 (Q27)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$1,000 cash. 10% sick, doctor $500. Premium $100, copay $275 if sick. u=√I. E[u] with insurance?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Q17 — Insurance 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Insurance · Mock Midterm 1 (Q25–26)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Car $10,000, 75% crash $3,600 damage. u=√I. Max P and RP?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Q18 — Risk Attitudes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Risk Attitudes · Homework 2 Ch.9 (Ex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Mike's MU(I) graph given. Bet: pay $20 on dice 1–2, receive $10 on 3–6. Fair bet? Accept?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Q19 — Risk Attitudes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Risk Attitudes · Sample Q Ch.9 (Q6)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Anna U(I)=I, Elsa U(I)=I^1.5. Anna is ___ and Elsa is ___.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Q20 — Risk Attitudes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Risk Attitudes · Sample Q Ch.9 (Q8)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Graphs of u(I) for Marta and Hannah. Classify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Q21 — Risk Attitudes 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Risk Attitudes · Mock Midterm 1 (Q28)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Firmino bet: Reds win → friend pays $1; lose → Firmino pays $3. Mohamed U=I^0.7, Sadio U=I^2.3.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Q22 — Certainty Eq. &amp; RP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Certainty Equivalent &amp; Risk Premium · Homework 2 Ch.9 (Ex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Investment: 80% → $200, 20% → $50. u(x)=√x. Find E[x], E[u], certainty equivalent, risk premium.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Q23 — Certainty Eq. &amp; RP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Certainty Equivalent &amp; Risk Premium · Sample Q Ch.9 (Q12)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80% → $144, 20% → $81, u(x)=√x. Find E[u], E[x], CE, RP.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Q24 — Diversification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Ch 9 · Diversification · Sample Q Ch.9 (Q22)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Feng: companies A&amp;B (agriculture, positively correlated). Nan: C&amp;D (airline/oil, negatively correlated). Who has riskier portfolio?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</a:defRPr>
            </a:pPr>
            <a:r>
              <a:t>[Work space below — see Answer Key slides at end]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Formula Sheet — 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Budget constraint: p₁q₁ + p₂q₂ = I</a:t>
            </a:r>
            <a:br/>
            <a:r>
              <a:t>Optimal (interior): MRS = MU₁/MU₂ = p₁/p₂</a:t>
            </a:r>
            <a:br/>
            <a:r>
              <a:t>Cobb-Douglas U = q₁^α q₂^β: q₁* = α/(α+β) · I/p₁</a:t>
            </a:r>
            <a:br/>
            <a:r>
              <a:t>Perfect substitutes: Buy only good with higher MU/p</a:t>
            </a:r>
            <a:br/>
            <a:r>
              <a:t>Perfect complements: Consume at fixed ratio; kink on IC</a:t>
            </a:r>
            <a:br/>
            <a:r>
              <a:t>MRS (Cobb-Douglas): MRS = (α/β)(q₂/q₁)</a:t>
            </a:r>
            <a:br/>
            <a:r>
              <a:t>Labor-Leisure: c = wL + V,  L = T − ℓ</a:t>
            </a:r>
            <a:br/>
            <a:r>
              <a:t>Labor-Leisure optimum: MU_ℓ / MU_c = w</a:t>
            </a:r>
            <a:br/>
            <a:r>
              <a:t>Intertemporal BC: c₁ + c₂/(1+r) = I₁ + I₂/(1+r)</a:t>
            </a:r>
            <a:br/>
            <a:r>
              <a:t>Intertemporal optimum: MU₁/MU₂ = (1+r)</a:t>
            </a:r>
            <a:br/>
            <a:r>
              <a:t>Present value: PV = Σ FVₜ/(1+r)ᵗ</a:t>
            </a:r>
            <a:br/>
            <a:r>
              <a:t>Price elasticity: E_p = (P/Q)(∂Q/∂P)</a:t>
            </a:r>
            <a:br/>
            <a:r>
              <a:t>Income elasticity: E_I = (I/Q)(∂Q/∂I)</a:t>
            </a:r>
            <a:br/>
            <a:r>
              <a:t>Cross-price elasticity: E_xy = (P_y/Q_x)(∂Q_x/∂P_y)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Formula Sheet — Chapter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Expected value: E[x] = Σ pᵢ xᵢ</a:t>
            </a:r>
            <a:br/>
            <a:r>
              <a:t>Expected utility: E[u] = Σ pᵢ u(xᵢ)</a:t>
            </a:r>
            <a:br/>
            <a:r>
              <a:t>Risk attitudes: u''(x) &lt; 0 → risk averse</a:t>
            </a:r>
            <a:br/>
            <a:r>
              <a:t>MU test: Decreasing MU(I) → risk averse</a:t>
            </a:r>
            <a:br/>
            <a:r>
              <a:t>Certainty equivalent (CE): u(CE) = E[u(x)]</a:t>
            </a:r>
            <a:br/>
            <a:r>
              <a:t>Risk premium (RP): RP = E[x] − CE</a:t>
            </a:r>
            <a:br/>
            <a:r>
              <a:t>Fair bet: E[payoff] = 0</a:t>
            </a:r>
            <a:br/>
            <a:r>
              <a:t>Fair insurance premium: P_fair = E[loss] = Σ pᵢ · lossᵢ</a:t>
            </a:r>
            <a:br/>
            <a:r>
              <a:t>Max insurance premium: E[u(with ins)] = E[u(no ins)]</a:t>
            </a:r>
            <a:br/>
            <a:r>
              <a:t>Insurance risk premium: RP_ins = P_max − P_fair</a:t>
            </a:r>
            <a:br/>
            <a:r>
              <a:t>Partial insurance EU: E[u] = Σ pᵢ u(income in state i)</a:t>
            </a:r>
            <a:br/>
            <a:r>
              <a:t>Diversification: Negatively correlated assets ↓ portfolio variance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Answer Key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Answer Key (Q1–Q6)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 — Consumer Problem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MRS = (0.6/0.4)(q2/q1) = p1/p2 → q2 = (2/3)q1. Budget: 5q1+10q2=100 → q1*=12, q2*=8.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Q2 — Consumer Problem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1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BC: 2A+3B=120, slope=−2/3. Optimum: A*=24, B*=24. MRS at X = 3B/(2A) = 3/2.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Q3 — Labor-Leisure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5351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MRS: ℓ/c = w → ℓ = 20(16−ℓ)+80 = 400−20ℓ → ℓ*=400/21≈19.05 → capped at 16? Recheck: ℓ = wL+V/w with L=16−ℓ → ℓ* = (w·16+V)/(2w) = (320+80)/40 = 10. ℓ*=10, L*=6, c*=200.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Q4 — Labor-Leisure 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36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ℓ* = (30·16+80)/(2·30) = (480+80)/60 = 560/60 ≈ 9.33. L*≈6.67. She works MORE (substitution effect dominates for Cobb-Douglas).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Q5 — Intertemporal 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737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PV budget: q1 + q2/1.5 = 10+12/1.5 = 18. Optimum q1=q2 (Cobb-Douglas α=0.5). q1*=9, q2*=13.5. Consumes more in period 2 → saving.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Q6 — Intertemporal 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338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(D) q1=80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Answer Key (Q7–Q12)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Q7 — Elasticity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Q(5)=75, Q(10)=50. Ep = (P/Q)(dQ/dP) = (5/75)(−5) = −1/3.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Q8 — Elasticity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1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QA=400. Ep=−1, EI=−0.75 (inferior), Exo=−0.20 (complements).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Q9 — Elasticity #3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5351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(C) QA = 110 − 2PA − 4I + 2PB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Q10 — Budget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36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(C) shift inward (parallel shift).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Q11 — Preferences 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737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Yes — violates completeness (consumer cannot rank bundles).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Q12 — Preferences 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338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(D) u(X,Y) = X/5 + Y/7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Answer Key (Q13–Q18)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Q13 — Insurance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P_max ≈ $45,375 (EU with insurance = EU without at P=45,375).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Q14 — Insurance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1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E[loss] = 0.25 × $174,000 = $43,500.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Q15 — Insurance #3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5351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P_max ≈ $45,675. Fair = $39,600. RP ≈ $6,075.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Q16 — Insurance #4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36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(B) 30.7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Q17 — Insurance #5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737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P_max ≈ $2,775 (D). RP = $25 (E).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Q18 — Risk Attitudes 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338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Fair bet (E[win]=0). Risk averse → reject. Does not depend on wealth if can pay $20.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Answer Key (Q19–Q24)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Q19 — Risk Attitudes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(A) risk neutral, risk loving.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Q20 — Risk Attitudes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1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(C) Marta risk averse; Hannah risk loving.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Q21 — Risk Attitudes #4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5351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(D) Mohamed rejects; Sadio accepts.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Q22 — Certainty Eq. &amp; RP 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36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E[x]=170. E[u]=0.8√200+0.2√50≈12.66. CE: √CE=12.66→CE≈160.4. RP=170−160.4≈9.6.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Q23 — Certainty Eq. &amp; RP 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737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E[x]=131.4. CE≈129.96. RP≈1.44.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9B5"/>
                </a:solidFill>
              </a:defRPr>
            </a:pPr>
            <a:r>
              <a:t>Q24 — Diversification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338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Feng — positively correlated assets don't diversify; Nan's portfolio has lower variance.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